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notesMasterIdLst>
    <p:notesMasterId r:id="rId17"/>
  </p:notesMasterIdLst>
  <p:handoutMasterIdLst>
    <p:handoutMasterId r:id="rId18"/>
  </p:handoutMasterIdLst>
  <p:sldIdLst>
    <p:sldId id="261" r:id="rId3"/>
    <p:sldId id="314" r:id="rId4"/>
    <p:sldId id="322" r:id="rId5"/>
    <p:sldId id="323" r:id="rId6"/>
    <p:sldId id="266" r:id="rId7"/>
    <p:sldId id="341" r:id="rId8"/>
    <p:sldId id="342" r:id="rId9"/>
    <p:sldId id="343" r:id="rId10"/>
    <p:sldId id="344" r:id="rId11"/>
    <p:sldId id="345" r:id="rId12"/>
    <p:sldId id="340" r:id="rId13"/>
    <p:sldId id="347" r:id="rId14"/>
    <p:sldId id="348" r:id="rId15"/>
    <p:sldId id="332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18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3BCDB23-F71F-45AC-95C4-53EA35851854}" v="25" dt="2026-03-04T03:42:43.0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582"/>
    <p:restoredTop sz="95833"/>
  </p:normalViewPr>
  <p:slideViewPr>
    <p:cSldViewPr snapToGrid="0" snapToObjects="1">
      <p:cViewPr varScale="1">
        <p:scale>
          <a:sx n="93" d="100"/>
          <a:sy n="93" d="100"/>
        </p:scale>
        <p:origin x="91" y="12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51" d="100"/>
          <a:sy n="51" d="100"/>
        </p:scale>
        <p:origin x="3208" y="2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microsoft.com/office/2015/10/relationships/revisionInfo" Target="revisionInfo.xml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EFD0E32-84B7-61F7-BC6E-7F3D3E58F42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8D96D9-5F98-A44D-2018-D6A2A308A4F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9F6064-4237-BA4C-A655-B64A9E0DF723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93AFF6-B32C-BF80-479E-15EDD755C5E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1E1A79-2016-95C1-5829-B295A2C9857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FBAABA-A336-9B4F-BB34-8D7F4005576F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E12229D-753E-D112-EA38-F8EB6301E6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16374" cy="458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058581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A854B6-73EE-3647-B9F0-9FDDAF047BDA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329816-4D5E-3B44-810B-F5C416F14A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1552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227E06-5BF0-54B9-FB5D-CFB52D43BF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6EA4E6-D507-DC8D-31AA-A4CB32D7CE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C99788-2E86-FADA-072C-884B026156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F734CB-DFAB-944A-8037-9643745D8F20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4D1ADA-8991-D408-DA0A-FE3B043FE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7DF78D-056F-7C9E-8F10-6820946248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32911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DA370-C77E-4354-33A4-1D2D9DDD6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3FE7F8-1A57-17F5-243A-454005CCDF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EAE72D-6D76-FAB8-D597-99BF2087AA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860C41-C703-1443-60E7-2BEF34D36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BB3600-770E-6D67-2A66-D2FECF5D3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776DCD-546C-A1AC-C961-3F3EEC504416}"/>
              </a:ext>
            </a:extLst>
          </p:cNvPr>
          <p:cNvSpPr/>
          <p:nvPr userDrawn="1"/>
        </p:nvSpPr>
        <p:spPr>
          <a:xfrm>
            <a:off x="87228" y="60325"/>
            <a:ext cx="1532022" cy="620712"/>
          </a:xfrm>
          <a:prstGeom prst="rect">
            <a:avLst/>
          </a:prstGeom>
          <a:blipFill dpi="0" rotWithShape="1">
            <a:blip r:embed="rId2">
              <a:alphaModFix amt="78101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6417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A5DA9-698C-D133-BCF7-93A02E210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A85215-9C62-1486-DEC7-AF8E59725B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D292FD-C465-3FCB-1CEB-331C31A973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18335F-2E5B-B14E-9706-E237C81E4155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196C18-4538-A1F2-0B35-7684E5B30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05BEFA-16A3-B084-9011-B7E85C9C9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43703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3A91F-6631-AA20-E58B-064235B6D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0029CD-C8C6-CEFE-D059-40BEA29975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75D9AB-9E5E-59E2-9DA3-6C54D45EAC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3C372B-55E2-4467-1C5C-88EAE72839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D6649-7156-A341-B9F2-F045B7551E13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0897BD-CB93-AC5A-9B15-FD7F4D952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5540F5-8BB9-4C4C-626E-5D45C97E3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82530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D68A3B-B4EE-2816-3ADC-1938541424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1AF86E-35F8-453B-F58E-48D8C4903A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3D8923-FBC0-8866-8350-696FB3D22B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545281-3CB5-361A-7D56-C6E37E290D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9F62343-9DB8-07DC-AD19-22AE6A7E5D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FEB0191-CD7B-6170-8655-A3CD1009BE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77CD1-E97C-BA41-8E49-9F39B98FFBE8}" type="datetime1">
              <a:rPr lang="en-IN" smtClean="0"/>
              <a:t>10-03-2026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680C4C-B6E8-81B1-E2F5-D6264E3F6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0C8B11F-5860-03B4-E71F-3467444F9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0055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7A6C5-1A49-C01E-B839-45967150D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C47471-9D6F-27AE-9B05-71D6BF96E3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DBCA1-9406-7A44-8A76-1046B4040777}" type="datetime1">
              <a:rPr lang="en-IN" smtClean="0"/>
              <a:t>10-03-2026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5AFD67-19CE-C1CD-207C-EF612C5A6F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0D7506-CEE9-31E5-7D10-A0BD1B2B0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58805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12BBBBF-B095-FC7E-61BE-572DFB7B1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FB085D-B69B-9C45-93A5-77F47F2F6792}" type="datetime1">
              <a:rPr lang="en-IN" smtClean="0"/>
              <a:t>10-03-2026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47555D4-8ECB-AFFE-0E72-A206E4098E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E9EB7F-0F36-6AF2-5A6E-D350360EF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39754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AF3453-54A8-457E-0F66-9BE958D915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CE50AE-B8BE-E1FF-F3BA-8093082215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DA6038-C8B1-F7F2-5CA8-15CFE38CBD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097CAE-AF61-8AFD-5350-97D8044E12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B69B7-E8EF-6346-9390-671C5B22ACF3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9E989E-AF43-DFDB-D9DD-E85DED3C09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FBCAA9-93EB-8A4D-BB9C-2479D59350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4234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BCE57A-1FB8-E230-296B-702500A0D4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C470CF4-1245-8E91-196B-2297C07C97E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C54EA7-CAD7-C04A-6487-F7D1660330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F31731-B315-1CCB-7EEF-B7C7EC92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0709D-BF3C-5743-B60D-B01C16014A7B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4DE31E-F8C7-4C00-C40D-FE2821B70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7C9369-3918-E39E-9B60-A57179D049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4632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9F7F1-0136-E40C-5B0F-C1D42F6EF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A08B89F-EA4C-AA4F-0EB2-C715E5B0D6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C2AEC3-3D5C-B4D8-ADAC-C6249EB46A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4444B0-6575-954F-AAA2-CB0D0417F745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19FED2-229B-3728-C7BA-7E8D51577A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8B8F22-95FA-4A5E-31CC-C3851B52E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26131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C6F1B25-2FA5-C4F6-09E8-D6F7A8DF83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1113B0-02D5-BBE3-31A5-4739616298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9CAE10-6B7D-C48F-F3FF-419AD4413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E7A436-9AA5-6C4B-AFF1-C34F60A9AB89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52D582-0634-2511-6F7E-7229EC0722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BAE7E1-0525-6C8B-2077-B55EFBEA6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2507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F2A4A3-2E21-E418-73DE-E22247EE41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C87DE1-CAF2-229C-5776-9562B79560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154DD8-14C4-ACB8-D444-27F005A4C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141C7-EF5A-1D4A-89F0-79C7DE818D53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6BF891-4BCD-EC21-1259-8661D36C8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3951AF-D1A2-07A4-0B2A-7E9D6B416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68524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8CBFB9-B574-3DEB-F162-FE89B3802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94B0E9-24AC-9760-0CBD-E5D0888E3F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C41205-CA2E-9649-1960-8F17E0E6D2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868A0C-C998-984C-ABE3-A33473D7CAB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702BAD-D0DE-F254-BBD1-2AFE276BD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787769-B833-24E6-E30B-DCE74558A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1927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24CF5-AE66-5FEF-8EEC-A630C8B29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528CE2-68D8-267B-C297-6117F0736A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5FFB0-0F78-AEB8-5AFB-EC779B961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D2EF84-6667-8447-AC88-082F9D71D82C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F3BE8E-E2EB-A8B6-21DD-9AB839A58A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4BE51E-49C9-6B3A-1C46-49212B576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083761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3AF32-49A3-7BB1-C7E7-6C5D90D17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C51BE1-060E-F420-83BA-C8AE9151CF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5265B4-44BE-C9BD-56AD-24359969A5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262ECC-3BDB-BEA4-4B7F-1545B0DC3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563FD6-5C64-304A-9680-469E8D83D1BF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899311-B569-3D99-B257-5CEB03A68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E828AD-34AD-9A23-4FFC-4C32387C94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4661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56895-A3B7-F0FB-3CBE-59E564F229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29C285-ECC0-3375-66EF-B240D726BE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DB153A-9265-EAEC-A55D-2519057330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4E62BD6-069B-567C-13A2-AD51A312FB5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60CFDC1-AF24-C301-0A26-DA099D8FF3D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22CB484-D858-5027-D2CF-125E103D2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985EC-8C41-0649-B43C-28421C497AA5}" type="datetime1">
              <a:rPr lang="en-IN" smtClean="0"/>
              <a:t>10-03-2026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8CD1DFD-AA21-1102-AD58-F0AB43617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058466D-C960-00E9-B91E-E20525158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51666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5EEF4A-08C3-1725-4505-63B90332E4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0D38A5-B84E-8DCB-3CEA-900D45C858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6F078D-01B0-9071-5546-6BFF4A071C6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85D85A-3465-384D-962A-D11BB8B39525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063510-A0D8-83AF-2345-E0A8B79D5D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B51A12-6174-66E3-0415-DA607E50CD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8278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B26EC2-0EF8-2F89-DF64-2685FD639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E29FC3-B99D-0056-3798-159705D113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9F1E1-99D3-E959-A91B-BD6DF2599B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F4C6E9-161C-B44B-AD70-8813DADCDED1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EC7260-A9B7-9847-6D81-8C797C4D5A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27894-99B0-6303-77B2-C1C210EE22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84843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D45DB3B1-7702-A34D-B15A-E964B95D6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INSTRUCTIONS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BAA4F36-AB00-F2C4-B47F-6381355DE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3134"/>
            <a:ext cx="10515600" cy="4683829"/>
          </a:xfrm>
        </p:spPr>
        <p:txBody>
          <a:bodyPr>
            <a:normAutofit fontScale="92500" lnSpcReduction="10000"/>
          </a:bodyPr>
          <a:lstStyle/>
          <a:p>
            <a:r>
              <a:rPr lang="en-IN"/>
              <a:t>Use </a:t>
            </a:r>
            <a:r>
              <a:rPr lang="en-IN" dirty="0"/>
              <a:t>Font size 22 to 28 and Font Style </a:t>
            </a:r>
            <a:r>
              <a:rPr lang="en-IN" b="0" i="0" dirty="0">
                <a:solidFill>
                  <a:srgbClr val="0A0A0A"/>
                </a:solidFill>
                <a:effectLst/>
                <a:latin typeface="Google Sans"/>
              </a:rPr>
              <a:t>Times New Roman </a:t>
            </a:r>
            <a:r>
              <a:rPr lang="en-IN" dirty="0"/>
              <a:t>(body)</a:t>
            </a:r>
          </a:p>
          <a:p>
            <a:r>
              <a:rPr lang="en-IN" dirty="0"/>
              <a:t>Do not change the Template: Heading / Title of the slides</a:t>
            </a:r>
          </a:p>
          <a:p>
            <a:r>
              <a:rPr lang="en-IN" dirty="0"/>
              <a:t>Do not change font style or colours</a:t>
            </a:r>
          </a:p>
          <a:p>
            <a:r>
              <a:rPr lang="en-IN" dirty="0"/>
              <a:t>Do not copy paste paragraphs: use only Bullet Points</a:t>
            </a:r>
          </a:p>
          <a:p>
            <a:r>
              <a:rPr lang="en-IN" dirty="0"/>
              <a:t>Maximum slide Limit is 20 only</a:t>
            </a:r>
          </a:p>
          <a:p>
            <a:r>
              <a:rPr lang="en-IN" dirty="0"/>
              <a:t>As per the number of supervisor allotted adopt slide-2 or slide-3</a:t>
            </a:r>
          </a:p>
          <a:p>
            <a:r>
              <a:rPr lang="en-IN" dirty="0"/>
              <a:t>Please display the required meaningful Content or images or tables </a:t>
            </a:r>
          </a:p>
          <a:p>
            <a:r>
              <a:rPr lang="en-IN" dirty="0"/>
              <a:t>Change the footer accordingly using insert tab then click on header &amp; footer tab and edit it</a:t>
            </a:r>
          </a:p>
          <a:p>
            <a:r>
              <a:rPr lang="en-IN" dirty="0"/>
              <a:t>Save the PPT with Register No, Dept and Review no,  example: </a:t>
            </a:r>
            <a:r>
              <a:rPr lang="en-US" dirty="0"/>
              <a:t>23xxxxxxxxx_CSE</a:t>
            </a:r>
            <a:endParaRPr lang="en-IN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5C2420-26C9-65B4-41BA-D5CA6972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DE338F-74DD-D142-8C58-9E4C5E66F6E8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9B4454-96E6-70D8-1440-214248739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13917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500A09-BF95-A121-71A4-33FFE91AC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057" y="136525"/>
            <a:ext cx="11543614" cy="1128381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400" dirty="0">
                <a:solidFill>
                  <a:srgbClr val="0070C0"/>
                </a:solidFill>
                <a:latin typeface="+mn-lt"/>
                <a:cs typeface="Arial" panose="020B0604020202020204" pitchFamily="34" charset="0"/>
              </a:rPr>
              <a:t>Title: Student Library Book Management Portal</a:t>
            </a:r>
            <a:endParaRPr lang="en-US" sz="2400" dirty="0">
              <a:solidFill>
                <a:srgbClr val="FF0000"/>
              </a:solidFill>
              <a:latin typeface="+mn-lt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EAE0CE-45A1-A1FF-31F4-66CECAEF305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150130"/>
            <a:ext cx="10515600" cy="1097555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buNone/>
            </a:pPr>
            <a:r>
              <a:rPr lang="en-US" sz="9600" dirty="0"/>
              <a:t>Student Name: Yuktha Alumuri</a:t>
            </a:r>
          </a:p>
          <a:p>
            <a:pPr marL="0" indent="0" algn="ctr">
              <a:buNone/>
            </a:pPr>
            <a:r>
              <a:rPr lang="en-US" sz="9600" dirty="0"/>
              <a:t>Student ID: 2520090093</a:t>
            </a:r>
            <a:endParaRPr lang="en-US" sz="2400" dirty="0"/>
          </a:p>
          <a:p>
            <a:pPr marL="0" indent="0" algn="ctr">
              <a:buNone/>
            </a:pPr>
            <a:r>
              <a:rPr lang="en-US" sz="11200" dirty="0"/>
              <a:t>Cluster:04</a:t>
            </a:r>
          </a:p>
          <a:p>
            <a:pPr marL="0" indent="0" algn="ctr">
              <a:buNone/>
            </a:pPr>
            <a:r>
              <a:rPr lang="en-US" sz="11200" dirty="0"/>
              <a:t>Section: 15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24CF11E-4EBB-004C-8FD7-152B8D16D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ABCEED-36AB-D94A-B562-4D3E096B39D1}" type="datetime1">
              <a:rPr lang="en-IN" smtClean="0"/>
              <a:t>10-03-2026</a:t>
            </a:fld>
            <a:endParaRPr lang="en-US"/>
          </a:p>
        </p:txBody>
      </p:sp>
      <p:pic>
        <p:nvPicPr>
          <p:cNvPr id="12" name="Picture 11" descr="A picture containing shape&#10;&#10;Description automatically generated">
            <a:extLst>
              <a:ext uri="{FF2B5EF4-FFF2-40B4-BE49-F238E27FC236}">
                <a16:creationId xmlns:a16="http://schemas.microsoft.com/office/drawing/2014/main" id="{22EBCDF0-8C0C-C908-85EA-FD8A72825B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6361" y="5015918"/>
            <a:ext cx="1725712" cy="930978"/>
          </a:xfrm>
          <a:prstGeom prst="rect">
            <a:avLst/>
          </a:prstGeom>
        </p:spPr>
      </p:pic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3F9DE7D0-41AC-90DD-3065-235240261B1B}"/>
              </a:ext>
            </a:extLst>
          </p:cNvPr>
          <p:cNvSpPr txBox="1">
            <a:spLocks/>
          </p:cNvSpPr>
          <p:nvPr/>
        </p:nvSpPr>
        <p:spPr>
          <a:xfrm>
            <a:off x="838200" y="3332480"/>
            <a:ext cx="11199471" cy="1571945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600" dirty="0"/>
              <a:t>Under the Guidance </a:t>
            </a:r>
          </a:p>
          <a:p>
            <a:pPr marL="0" indent="0" algn="ctr">
              <a:buNone/>
            </a:pPr>
            <a:r>
              <a:rPr lang="en-US" sz="8600" dirty="0"/>
              <a:t>of </a:t>
            </a:r>
            <a:endParaRPr lang="en-US" sz="8600" dirty="0">
              <a:solidFill>
                <a:srgbClr val="00B050"/>
              </a:solidFill>
            </a:endParaRPr>
          </a:p>
          <a:p>
            <a:pPr marL="0" indent="0" algn="ctr">
              <a:buNone/>
            </a:pPr>
            <a:r>
              <a:rPr lang="en-US" sz="8600" dirty="0">
                <a:solidFill>
                  <a:srgbClr val="00B050"/>
                </a:solidFill>
              </a:rPr>
              <a:t>Supervisor Name: </a:t>
            </a:r>
            <a:r>
              <a:rPr lang="en-US" sz="8600" dirty="0" err="1">
                <a:solidFill>
                  <a:srgbClr val="00B050"/>
                </a:solidFill>
              </a:rPr>
              <a:t>Surekha.P</a:t>
            </a:r>
            <a:endParaRPr lang="en-US" sz="8600" dirty="0">
              <a:solidFill>
                <a:srgbClr val="00B050"/>
              </a:solidFill>
            </a:endParaRPr>
          </a:p>
          <a:p>
            <a:pPr marL="0" indent="0" algn="ctr">
              <a:buNone/>
            </a:pPr>
            <a:r>
              <a:rPr lang="en-US" sz="8600" dirty="0">
                <a:solidFill>
                  <a:srgbClr val="00B050"/>
                </a:solidFill>
              </a:rPr>
              <a:t>Assistant Professor</a:t>
            </a:r>
          </a:p>
          <a:p>
            <a:pPr marL="0" indent="0" algn="ctr">
              <a:buNone/>
            </a:pPr>
            <a:r>
              <a:rPr lang="en-US" sz="8600" dirty="0">
                <a:solidFill>
                  <a:srgbClr val="00B050"/>
                </a:solidFill>
              </a:rPr>
              <a:t>Department of CSE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400" dirty="0">
              <a:solidFill>
                <a:srgbClr val="00B050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4C03D2-3952-BF4D-18CA-C2C8547E2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0163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D45DB3B1-7702-A34D-B15A-E964B95D6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OUTLINE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BAA4F36-AB00-F2C4-B47F-6381355DE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3134"/>
            <a:ext cx="10515600" cy="4683829"/>
          </a:xfrm>
        </p:spPr>
        <p:txBody>
          <a:bodyPr>
            <a:normAutofit fontScale="62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IN" dirty="0"/>
              <a:t>Abstract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Existing System 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Proposed System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System Architecture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Project Modules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Objectives 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Co’s Attainments - FWD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N" dirty="0"/>
              <a:t>Co1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N" dirty="0"/>
              <a:t>Co2 …….. 5. Co5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Co’s Attainments - DSA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N" dirty="0"/>
              <a:t>Co1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N" dirty="0"/>
              <a:t>Co2 …….. 5. Co5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Screen Shots for FWD &amp; DSA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Conclusion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Geo-Tagged Photos</a:t>
            </a:r>
          </a:p>
          <a:p>
            <a:pPr marL="514350" indent="-514350">
              <a:buFont typeface="+mj-lt"/>
              <a:buAutoNum type="arabicPeriod"/>
            </a:pPr>
            <a:endParaRPr lang="en-IN" dirty="0"/>
          </a:p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5C2420-26C9-65B4-41BA-D5CA6972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381120-93CB-BF4D-9125-DC4781C9106A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9B4454-96E6-70D8-1440-214248739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2393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D45DB3B1-7702-A34D-B15A-E964B95D6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Abstract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BAA4F36-AB00-F2C4-B47F-6381355DE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46422"/>
            <a:ext cx="10515600" cy="4430541"/>
          </a:xfrm>
        </p:spPr>
        <p:txBody>
          <a:bodyPr>
            <a:normAutofit/>
          </a:bodyPr>
          <a:lstStyle/>
          <a:p>
            <a:r>
              <a:rPr lang="en-US" dirty="0"/>
              <a:t>The </a:t>
            </a:r>
            <a:r>
              <a:rPr lang="en-US" b="1" dirty="0"/>
              <a:t>Trove — A Treasure of Books</a:t>
            </a:r>
            <a:r>
              <a:rPr lang="en-US" dirty="0"/>
              <a:t> project is a web-based </a:t>
            </a:r>
            <a:r>
              <a:rPr lang="en-US" b="1" dirty="0"/>
              <a:t>library management system</a:t>
            </a:r>
            <a:r>
              <a:rPr lang="en-US" dirty="0"/>
              <a:t> designed to simplify the management of books, students, and library activities. </a:t>
            </a:r>
          </a:p>
          <a:p>
            <a:r>
              <a:rPr lang="en-US" dirty="0"/>
              <a:t>The website provides separate interfaces for </a:t>
            </a:r>
            <a:r>
              <a:rPr lang="en-US" b="1" dirty="0"/>
              <a:t>admin and students</a:t>
            </a:r>
            <a:r>
              <a:rPr lang="en-US" dirty="0"/>
              <a:t>, allowing efficient handling of library operations such as adding books, managing student records, issuing and returning books, and viewing library statistics. </a:t>
            </a:r>
          </a:p>
          <a:p>
            <a:r>
              <a:rPr lang="en-US" dirty="0"/>
              <a:t>The system also includes features like </a:t>
            </a:r>
            <a:r>
              <a:rPr lang="en-US" b="1" dirty="0"/>
              <a:t>searching, filtering, notifications, book browsing, and student dashboards</a:t>
            </a:r>
            <a:r>
              <a:rPr lang="en-US" dirty="0"/>
              <a:t> to improve user experience.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5C2420-26C9-65B4-41BA-D5CA6972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9B4454-96E6-70D8-1440-214248739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57837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D45DB3B1-7702-A34D-B15A-E964B95D6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Existing System 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BAA4F36-AB00-F2C4-B47F-6381355DE6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lvl="1" indent="-339725" algn="just"/>
            <a:r>
              <a:rPr dirty="0"/>
              <a:t>Manual library management using registers</a:t>
            </a:r>
            <a:endParaRPr lang="en-US" dirty="0"/>
          </a:p>
          <a:p>
            <a:r>
              <a:rPr sz="2400" dirty="0"/>
              <a:t>Book issuing and returning takes more time</a:t>
            </a:r>
          </a:p>
          <a:p>
            <a:r>
              <a:rPr sz="2400" dirty="0"/>
              <a:t>Difficult to track available and issued books</a:t>
            </a:r>
          </a:p>
          <a:p>
            <a:r>
              <a:rPr sz="2400" dirty="0"/>
              <a:t>No automated notification for due dates</a:t>
            </a:r>
          </a:p>
          <a:p>
            <a:r>
              <a:rPr sz="2400" dirty="0"/>
              <a:t>Managing large number of books is difficult</a:t>
            </a:r>
          </a:p>
          <a:p>
            <a:r>
              <a:rPr sz="2400" dirty="0"/>
              <a:t>Risk of data loss or record errors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5C2420-26C9-65B4-41BA-D5CA6972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B9F02-6AB8-A348-9013-8FCBB8174821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9B4454-96E6-70D8-1440-214248739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8333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E7308-1D11-0801-FB87-8CFF8CD98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2EAE696E-C5CB-1479-F98C-F7C2D0B7BE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Proposed System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9135224-75FA-6942-7E71-50A315519F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t>Web based library management portal</a:t>
            </a:r>
            <a:endParaRPr lang="en-US" dirty="0"/>
          </a:p>
          <a:p>
            <a:r>
              <a:t>Automated book issue and return process</a:t>
            </a:r>
          </a:p>
          <a:p>
            <a:r>
              <a:t>Admin can manage books and student records</a:t>
            </a:r>
          </a:p>
          <a:p>
            <a:r>
              <a:t>Students can search and browse books easily</a:t>
            </a:r>
          </a:p>
          <a:p>
            <a:r>
              <a:t>Notification system for due dates</a:t>
            </a:r>
          </a:p>
          <a:p>
            <a:r>
              <a:t>Dashboard for library statistics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F95472-1444-D525-21F0-49779A036C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E105F9-7400-1835-C4B4-B38C94DE6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D399E1-BA43-10D5-C92A-C058676C1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4848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DA1740-4A22-BB35-FC5B-E9B7814955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17383E4-A635-5D2C-0BA9-6A9D4A506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System Architecture</a:t>
            </a:r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B475AEF0-E0DD-F050-92C7-36BA021DBD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80270" y="1229964"/>
            <a:ext cx="6631460" cy="4946999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AD3843-97BD-682A-B84E-8FDB182580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A237BD-B76F-738D-5648-B271AAD57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B2409B-FFAD-25CD-834C-0C2CA4A71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90111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03485-1CDC-6A29-86F1-EC5F9BB7E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2F8E0586-CE85-480D-585E-FCD3C3448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Project Modules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1890F206-B37F-761D-F471-0BF91F8897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t>Authentication Module – Admin and student login</a:t>
            </a:r>
            <a:endParaRPr lang="en-US" dirty="0"/>
          </a:p>
          <a:p>
            <a:r>
              <a:t>Admin Module – Manage books and student records</a:t>
            </a:r>
          </a:p>
          <a:p>
            <a:r>
              <a:t>Book Management – Add edit delete books</a:t>
            </a:r>
          </a:p>
          <a:p>
            <a:r>
              <a:t>Issue and Return Module – Track book transactions</a:t>
            </a:r>
          </a:p>
          <a:p>
            <a:r>
              <a:t>Search Module – Search books by title or author</a:t>
            </a:r>
          </a:p>
          <a:p>
            <a:r>
              <a:t>Notification Module – Alerts for due dates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9FF571-AABB-DBF0-2720-7F01DFDDF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AF6678-7BBF-2FBC-8619-C887BD26D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5A9859-4671-FF5D-1356-4CDA5C5CD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9656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73125-DE57-89FD-81B9-AA8B783FC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787EB9E5-2196-BA25-5BC0-0ADC2050C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Objectives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363C44B8-E8B6-5D9D-90FF-ECD825D72D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t>Digitize library management operations</a:t>
            </a:r>
            <a:endParaRPr lang="en-US" dirty="0"/>
          </a:p>
          <a:p>
            <a:r>
              <a:t>Reduce manual work and paperwork</a:t>
            </a:r>
          </a:p>
          <a:p>
            <a:r>
              <a:t>Provide quick access to book information</a:t>
            </a:r>
          </a:p>
          <a:p>
            <a:r>
              <a:t>Improve tracking of issued and available books</a:t>
            </a:r>
          </a:p>
          <a:p>
            <a:r>
              <a:t>Enhance user experience for students and admin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8B0D62-5A39-5424-9CF6-9A5122E0D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045F34-84C7-08FE-3B8E-621019BE8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6C40D6-1BC6-8947-EA26-62259BD2C2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9859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49560-5402-A083-5191-CC2F23364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3A50108-EF3B-F9BF-CB25-7C4C67A41A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Co’s Attainments - FWD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D0E4ED-DE37-6D8E-7EB1-1F0F05E37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25EEDF-18C5-49AB-9643-7F31370592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3C038D-A939-9973-E752-364BB70EE0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10</a:t>
            </a:fld>
            <a:endParaRPr lang="en-US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B648858-6CA3-64CF-67B9-E52642938C2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80618" y="1354635"/>
            <a:ext cx="9737706" cy="4801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800" dirty="0">
                <a:latin typeface="Arial" panose="020B0604020202020204" pitchFamily="34" charset="0"/>
              </a:rPr>
              <a:t>CO1: Used HTML document structure, headings, paragraphs, links, and basic CSS styling (colors, typography, margin, padding, borders) to design the basic layout of the TROVE website.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sz="18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800" dirty="0">
                <a:latin typeface="Arial" panose="020B0604020202020204" pitchFamily="34" charset="0"/>
              </a:rPr>
              <a:t>CO2: Implemented HTML forms, semantic tags, tables, Flexbox/Grid layouts, media queries, and CSS transitions/animations to create responsive pages for login, student registration, and book management.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sz="18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800" dirty="0">
                <a:latin typeface="Arial" panose="020B0604020202020204" pitchFamily="34" charset="0"/>
              </a:rPr>
              <a:t>CO3: Applied JavaScript fundamentals such as variables, conditions, loops, functions, objects, and arrays to manage book data, user inputs, and website functionality.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sz="18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800" dirty="0">
                <a:latin typeface="Arial" panose="020B0604020202020204" pitchFamily="34" charset="0"/>
              </a:rPr>
              <a:t>CO4: Used DOM manipulation, event handling, browser storage (local Storage), and asynchronous features to dynamically update the interface and store user/book information.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8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800" dirty="0">
                <a:latin typeface="Arial" panose="020B0604020202020204" pitchFamily="34" charset="0"/>
              </a:rPr>
              <a:t>CO5: Integrated JavaScript form validation, API/library usage (Chart.js), and optimized page structure to enhance interactivity and improve the overall performance of the TROVE web project.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69465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23D68-D41B-9825-3931-B79590C7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Screenshots for FWD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F8C8C486-13F3-7604-EA2B-C169BFEE1FE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70214" y="1690688"/>
            <a:ext cx="5426925" cy="4097716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963D1B-E2DB-29C3-BA63-FF21B16E3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114CB5-AB44-10F9-E8AF-4658C65956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8D5113-7B1F-AF02-CDA9-5B3AB95BE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11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20C74B5-0A17-88D2-2D13-511ED50285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0469" y="1690688"/>
            <a:ext cx="6101531" cy="4031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19537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63A63-E30E-0694-B089-838C7E389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7E8F526A-5F54-0308-7336-A6E0816064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Conclusion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56E9376-CB4B-895B-7B5C-D2F5AAED74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t>TROVE simplifies library management activities</a:t>
            </a:r>
            <a:endParaRPr lang="en-US" dirty="0"/>
          </a:p>
          <a:p>
            <a:r>
              <a:t>Reduces manual work and improves accuracy</a:t>
            </a:r>
          </a:p>
          <a:p>
            <a:r>
              <a:t>Provides easy access to library resources</a:t>
            </a:r>
          </a:p>
          <a:p>
            <a:r>
              <a:t>Improves efficiency for admin and students</a:t>
            </a:r>
          </a:p>
          <a:p>
            <a:r>
              <a:t>System can be enhanced with database integration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A84C9A-73D1-DA76-6E0C-91C24CB832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81726C-C351-8876-43C7-C9B8807EA5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E4E02D-0287-0F0D-A891-AE869E4F0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9121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48258-F0F3-1EE4-1AB3-DB04AD69E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9961B8-8709-0718-F6D3-9D07622F7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Geo- Tag Photos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99DDD4E2-FFF4-DBFE-A0A4-49D3F821B86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529200"/>
            <a:ext cx="3875714" cy="4601055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18EAAE-4073-261B-4850-9857C07DBA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CA2172-0EFE-3ADA-47FA-029EF21AB5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E9B8A7-6131-D012-7DA4-A9F36B2B1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13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96E09C1-9EBD-210B-8B70-1AE6F82851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7200" y="1514520"/>
            <a:ext cx="4114800" cy="460105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26FE0BF-AD40-EAD1-4C32-0B30E8C27D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5714" y="1514521"/>
            <a:ext cx="4201486" cy="4600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74719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BAA4F36-AB00-F2C4-B47F-6381355DE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740780"/>
            <a:ext cx="10515600" cy="5436183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dirty="0"/>
          </a:p>
          <a:p>
            <a:pPr marL="0" indent="0" algn="ctr">
              <a:buNone/>
            </a:pPr>
            <a:endParaRPr lang="en-IN" sz="4400" dirty="0"/>
          </a:p>
          <a:p>
            <a:pPr marL="0" indent="0" algn="ctr">
              <a:buNone/>
            </a:pPr>
            <a:endParaRPr lang="en-IN" sz="4400" dirty="0"/>
          </a:p>
          <a:p>
            <a:pPr marL="0" indent="0" algn="ctr">
              <a:buNone/>
            </a:pPr>
            <a:r>
              <a:rPr lang="en-IN" sz="4400" dirty="0"/>
              <a:t>THANK YOU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5C2420-26C9-65B4-41BA-D5CA6972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D6276-EBF6-BB4A-A6C6-114A8D55B891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9B4454-96E6-70D8-1440-214248739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39582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3924</TotalTime>
  <Words>721</Words>
  <Application>Microsoft Office PowerPoint</Application>
  <PresentationFormat>Widescreen</PresentationFormat>
  <Paragraphs>131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Arial</vt:lpstr>
      <vt:lpstr>Calibri</vt:lpstr>
      <vt:lpstr>Calibri Light</vt:lpstr>
      <vt:lpstr>Google Sans</vt:lpstr>
      <vt:lpstr>Office Theme</vt:lpstr>
      <vt:lpstr>Custom Design</vt:lpstr>
      <vt:lpstr>INSTRUCTIONS</vt:lpstr>
      <vt:lpstr>Title: Student Library Book Management Portal</vt:lpstr>
      <vt:lpstr>OUTLINE</vt:lpstr>
      <vt:lpstr>Abstract</vt:lpstr>
      <vt:lpstr>Existing System </vt:lpstr>
      <vt:lpstr>Proposed System</vt:lpstr>
      <vt:lpstr>System Architecture</vt:lpstr>
      <vt:lpstr>Project Modules</vt:lpstr>
      <vt:lpstr>Objectives</vt:lpstr>
      <vt:lpstr>Co’s Attainments - FWD</vt:lpstr>
      <vt:lpstr>Screenshots for FWD</vt:lpstr>
      <vt:lpstr>Conclusion</vt:lpstr>
      <vt:lpstr>Geo- Tag Photos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Dr. SHAHANA BANO</dc:creator>
  <cp:lastModifiedBy>yukthareddy alumuri</cp:lastModifiedBy>
  <cp:revision>58</cp:revision>
  <dcterms:created xsi:type="dcterms:W3CDTF">2022-05-20T10:20:31Z</dcterms:created>
  <dcterms:modified xsi:type="dcterms:W3CDTF">2026-03-10T05:46:29Z</dcterms:modified>
</cp:coreProperties>
</file>